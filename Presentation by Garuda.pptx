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2" r:id="rId7"/>
    <p:sldId id="259" r:id="rId8"/>
    <p:sldId id="261" r:id="rId9"/>
    <p:sldId id="267" r:id="rId10"/>
    <p:sldId id="266" r:id="rId11"/>
    <p:sldId id="26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ED5-EC49-A790-4FE8-28F9B361A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6BA3F-2973-78E8-5F46-894B2CAFD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0167-F522-0353-BD00-302EBBFE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7EA23-490D-EB7F-1640-76348D3E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01308-69BC-884C-EF3D-3DFD3D9A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39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3A9-2BB1-482C-8D4E-4F54E0B9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0F09D-8390-F1A4-D07C-5B73EF5C7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C833-28A7-4BFA-52FB-60BC2C91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A1BA0-BD00-ECC4-5385-7E142B54D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EAF5-BC0E-12C9-30C6-AC749BBB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60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B850-CA02-05B6-CEF8-9450AA7B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C6E54-F2A4-8ED0-8DAB-A1A520EAE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5BE3D-9E34-1967-6682-1BB23DE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BBA4A-881D-A8EA-E571-8D3E7AEC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7568-789E-5389-D8D7-96ED61C2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2F06-2AE7-B3A8-5168-866293A6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F75F-0236-275E-2F81-AB0965A05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8CD0-E465-B573-2F7E-36DB49E60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AC0DC-EFCD-2D76-6AA6-8E96C6D4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3FAE2-14DF-104C-4173-33657C7B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31104-8EB2-1A42-6A51-32D0257F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67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C580-5D21-8670-86F8-E683BFA5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3D415-DC2E-B7F7-D1E5-5ACEAE75E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0731F-4259-8009-8B3F-FCA762D42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39CC1-7759-5041-1869-396CFED10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08BAB-E7B6-98C8-5D27-6809B328A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54FB1-665F-4E19-212C-5260743F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484A5-C34C-1ACC-AEF8-1E1037D3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8B973-4B95-869B-9837-A6D7818B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4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23F7-FDD9-F05D-C9DA-7310FC64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FE304-6015-6DEE-7539-BFE64B6D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55422-5542-5788-C057-AEF50B5A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8114C-3195-DF26-D708-82752FFE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06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81915-9F62-B47B-657E-16515DDD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1E5B8-E283-FE87-7B03-9EDF43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65118-3F66-2F99-A2E4-AA4C14FE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3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A891-9DBE-AD52-1BEA-019E684F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6CBB-9B37-0BBC-864A-E1189FE05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C0941-557A-ABC4-CC0A-1D80FD0A4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BE060-C434-FD3C-C3F4-D6EDAF69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016AC-6810-A8FA-F347-2BBB917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3FBE2-7104-89C3-1C7B-BBFA863F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55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C15F-C68B-99F5-3348-2221981B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EA36E-1C37-DFAD-EDF3-E9DAEDBC2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5180D-971E-D976-FA00-8A61C3CD4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9B6E3-3288-32EE-37D9-54309189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7EAE-98B0-C132-941D-953C5BF0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09553-13A6-9B90-39BB-AA9A62D6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5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AC01-BCC8-98F8-3B24-4C75DF9F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6F83B-F066-0445-4F1F-D980108C4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3511-DA60-627C-071E-10F9A29E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9FEA-B85E-B4B8-DC54-B4C6527F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BCF0-F61D-0E5C-85E6-9DF79C26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95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A97AC-4240-096F-CE97-138002B4E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D2695-42F4-9FA9-F586-8927631AF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AC72C-7053-A6B1-5F8C-16C998A4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77133-A7A9-5EA6-D561-0F0CF0DD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2F871-D77A-829F-20A7-312B1F0D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CFAD9-6DEB-2A02-E05B-4FC2C162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497CB-FF97-5E69-8A93-06A942926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DB830-9B09-1B2F-00FB-E0C434FFB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EBFE-02B7-4E50-898B-272775B0517F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3174-B1EC-68B5-A9C9-A34E648E0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40A4-8757-F7D2-16CE-CE07E189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E8D09-C6DA-4CB9-986F-C63B131A8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77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AC119-8D4D-5E70-B350-974E27604EF3}"/>
              </a:ext>
            </a:extLst>
          </p:cNvPr>
          <p:cNvSpPr txBox="1"/>
          <p:nvPr/>
        </p:nvSpPr>
        <p:spPr>
          <a:xfrm>
            <a:off x="3057830" y="685156"/>
            <a:ext cx="7275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solidFill>
                  <a:schemeClr val="accent1"/>
                </a:solidFill>
                <a:latin typeface="Californian FB" panose="0207040306080B030204" pitchFamily="18" charset="0"/>
              </a:rPr>
              <a:t>Q-GUARD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84C3B-FAC7-2AEA-FF64-23892EBA2FC2}"/>
              </a:ext>
            </a:extLst>
          </p:cNvPr>
          <p:cNvSpPr txBox="1"/>
          <p:nvPr/>
        </p:nvSpPr>
        <p:spPr>
          <a:xfrm>
            <a:off x="2192594" y="2064773"/>
            <a:ext cx="7806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Quantum-Assisted Financial Fraud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FA971-B9EA-8B6A-AED7-08AA978BA84D}"/>
              </a:ext>
            </a:extLst>
          </p:cNvPr>
          <p:cNvSpPr txBox="1"/>
          <p:nvPr/>
        </p:nvSpPr>
        <p:spPr>
          <a:xfrm>
            <a:off x="3633019" y="3429000"/>
            <a:ext cx="49259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Team Members:</a:t>
            </a:r>
          </a:p>
          <a:p>
            <a:r>
              <a:rPr lang="en-IN" sz="2800" b="1" dirty="0"/>
              <a:t>             </a:t>
            </a:r>
            <a:r>
              <a:rPr lang="en-IN" sz="2800" dirty="0"/>
              <a:t>K Sudhakar</a:t>
            </a:r>
          </a:p>
          <a:p>
            <a:r>
              <a:rPr lang="en-IN" sz="2800" dirty="0"/>
              <a:t>             E Lathika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2786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2764E-CF8D-80B6-B72D-BC9162E17955}"/>
              </a:ext>
            </a:extLst>
          </p:cNvPr>
          <p:cNvSpPr txBox="1"/>
          <p:nvPr/>
        </p:nvSpPr>
        <p:spPr>
          <a:xfrm>
            <a:off x="265471" y="35420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Problem Statement: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AE104-33C8-754D-30CF-38477DFE8CE2}"/>
              </a:ext>
            </a:extLst>
          </p:cNvPr>
          <p:cNvSpPr txBox="1"/>
          <p:nvPr/>
        </p:nvSpPr>
        <p:spPr>
          <a:xfrm>
            <a:off x="393290" y="1257443"/>
            <a:ext cx="5968181" cy="2031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With the rapid growth of online payments and digital banking, financial fraud has increased significantly. Traditional fraud detection systems are mostly static and rule-based, making them less effective against unpredictable fraud patterns. This creates a need for a smarter and more adaptive fraud detection system capable of analyzing suspicious transactions in real time.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88975-3EB2-9B30-8ED2-0CFA374ADFBD}"/>
              </a:ext>
            </a:extLst>
          </p:cNvPr>
          <p:cNvSpPr txBox="1"/>
          <p:nvPr/>
        </p:nvSpPr>
        <p:spPr>
          <a:xfrm>
            <a:off x="521109" y="3489489"/>
            <a:ext cx="4886632" cy="24006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Why Existing System Fails:</a:t>
            </a:r>
            <a:endParaRPr lang="en-IN" dirty="0"/>
          </a:p>
          <a:p>
            <a:endParaRPr lang="en-IN" dirty="0"/>
          </a:p>
          <a:p>
            <a:r>
              <a:rPr lang="en-IN" dirty="0"/>
              <a:t> Online banking fraud is increasing rapidly</a:t>
            </a:r>
            <a:br>
              <a:rPr lang="en-IN" dirty="0"/>
            </a:br>
            <a:r>
              <a:rPr lang="en-IN" dirty="0"/>
              <a:t> Traditional systems use static rule-based detection</a:t>
            </a:r>
            <a:br>
              <a:rPr lang="en-IN" dirty="0"/>
            </a:br>
            <a:r>
              <a:rPr lang="en-IN" dirty="0"/>
              <a:t> Fraudsters behave unpredictably</a:t>
            </a:r>
            <a:br>
              <a:rPr lang="en-IN" dirty="0"/>
            </a:br>
            <a:r>
              <a:rPr lang="en-IN" dirty="0"/>
              <a:t> Existing systems struggle with adaptive  analysis</a:t>
            </a:r>
            <a:br>
              <a:rPr lang="en-IN" dirty="0"/>
            </a:br>
            <a:r>
              <a:rPr lang="en-IN" dirty="0"/>
              <a:t> Delayed fraud detection causes financial losses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FA7FFE-BF4C-2E39-3D22-570EC716E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767" y="1257443"/>
            <a:ext cx="5102943" cy="46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0265E-D61D-891B-9809-0708823B7F86}"/>
              </a:ext>
            </a:extLst>
          </p:cNvPr>
          <p:cNvSpPr txBox="1"/>
          <p:nvPr/>
        </p:nvSpPr>
        <p:spPr>
          <a:xfrm>
            <a:off x="550607" y="491611"/>
            <a:ext cx="12123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Proposed 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6DB9C-B52F-CB67-44C5-61FBF33E3D7F}"/>
              </a:ext>
            </a:extLst>
          </p:cNvPr>
          <p:cNvSpPr txBox="1"/>
          <p:nvPr/>
        </p:nvSpPr>
        <p:spPr>
          <a:xfrm>
            <a:off x="4277032" y="553618"/>
            <a:ext cx="4670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 </a:t>
            </a:r>
            <a:r>
              <a:rPr lang="en-IN" sz="2400" b="1" dirty="0">
                <a:highlight>
                  <a:srgbClr val="FFFF00"/>
                </a:highlight>
              </a:rPr>
              <a:t>Q-Guard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8FD8E-FC50-EFB2-A316-A63E0D236D48}"/>
              </a:ext>
            </a:extLst>
          </p:cNvPr>
          <p:cNvSpPr txBox="1"/>
          <p:nvPr/>
        </p:nvSpPr>
        <p:spPr>
          <a:xfrm>
            <a:off x="648928" y="1415845"/>
            <a:ext cx="11238271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“We propose a hybrid fraud detection system that combines Machine Learning and quantum-inspired anomaly analysis. The system first processes transaction data and uses a Random Forest model to detect known fraud patterns. A quantum simulation layer is then used to identify unusual or uncertain transaction behavior. Finally, a hybrid decision engine combines both outputs to generate a final fraud risk prediction, improving accuracy and adaptability compared to traditional systems.”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F8239-AB4E-83CC-7B8F-A10DBC18072A}"/>
              </a:ext>
            </a:extLst>
          </p:cNvPr>
          <p:cNvSpPr txBox="1"/>
          <p:nvPr/>
        </p:nvSpPr>
        <p:spPr>
          <a:xfrm>
            <a:off x="3200400" y="3503163"/>
            <a:ext cx="215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Idea: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0B6D4-8F8F-DC40-CB80-F49365397547}"/>
              </a:ext>
            </a:extLst>
          </p:cNvPr>
          <p:cNvSpPr txBox="1"/>
          <p:nvPr/>
        </p:nvSpPr>
        <p:spPr>
          <a:xfrm>
            <a:off x="3323303" y="4053875"/>
            <a:ext cx="454250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Our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transaction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Detects anomalies using 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quantum randomness for adaptive risk scoring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Displays results through an interactive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46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6E66D-4A8B-D614-333F-0F2697FC9930}"/>
              </a:ext>
            </a:extLst>
          </p:cNvPr>
          <p:cNvSpPr txBox="1"/>
          <p:nvPr/>
        </p:nvSpPr>
        <p:spPr>
          <a:xfrm rot="10800000" flipH="1" flipV="1">
            <a:off x="4748980" y="123147"/>
            <a:ext cx="3797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ARCHITECTURE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BBDAE-EEA4-62AD-7257-46B80A122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56" y="737419"/>
            <a:ext cx="11201025" cy="58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2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36734F-79DF-A753-EFD1-A8E71E208BCB}"/>
              </a:ext>
            </a:extLst>
          </p:cNvPr>
          <p:cNvSpPr txBox="1"/>
          <p:nvPr/>
        </p:nvSpPr>
        <p:spPr>
          <a:xfrm>
            <a:off x="324463" y="580103"/>
            <a:ext cx="6902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Technologies Used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31F9B2-BBFC-B5B6-4952-C7F6B1331B1F}"/>
              </a:ext>
            </a:extLst>
          </p:cNvPr>
          <p:cNvSpPr/>
          <p:nvPr/>
        </p:nvSpPr>
        <p:spPr>
          <a:xfrm>
            <a:off x="1165115" y="1317522"/>
            <a:ext cx="1720645" cy="16124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7F447-8E46-B4C1-36C8-56DA4B9C7BD9}"/>
              </a:ext>
            </a:extLst>
          </p:cNvPr>
          <p:cNvSpPr/>
          <p:nvPr/>
        </p:nvSpPr>
        <p:spPr>
          <a:xfrm>
            <a:off x="742334" y="3185652"/>
            <a:ext cx="2379407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Frontend: </a:t>
            </a:r>
            <a:r>
              <a:rPr lang="en-IN" sz="1600" b="1" dirty="0" err="1">
                <a:solidFill>
                  <a:schemeClr val="tx1"/>
                </a:solidFill>
              </a:rPr>
              <a:t>Streamlit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54F679-A638-F7CD-42D9-CDA70FF9EC48}"/>
              </a:ext>
            </a:extLst>
          </p:cNvPr>
          <p:cNvSpPr/>
          <p:nvPr/>
        </p:nvSpPr>
        <p:spPr>
          <a:xfrm>
            <a:off x="4945625" y="1266409"/>
            <a:ext cx="1720645" cy="161249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73310-01E2-324F-809D-CC8CF89C2914}"/>
              </a:ext>
            </a:extLst>
          </p:cNvPr>
          <p:cNvSpPr/>
          <p:nvPr/>
        </p:nvSpPr>
        <p:spPr>
          <a:xfrm>
            <a:off x="4616245" y="3061321"/>
            <a:ext cx="2379407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Programming language :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617EA-2F7B-0D39-ABE7-4738237B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08" y="1463464"/>
            <a:ext cx="1602658" cy="1448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502D10-464F-E64B-F582-7EEC14F73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818" y="1317522"/>
            <a:ext cx="1504336" cy="143091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1959CE7-1AF2-4E26-B31A-DE8BE8D75814}"/>
              </a:ext>
            </a:extLst>
          </p:cNvPr>
          <p:cNvSpPr/>
          <p:nvPr/>
        </p:nvSpPr>
        <p:spPr>
          <a:xfrm>
            <a:off x="8563894" y="1317521"/>
            <a:ext cx="1720645" cy="161249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8BD33E-4090-F15A-62AC-B761C87F4E9E}"/>
              </a:ext>
            </a:extLst>
          </p:cNvPr>
          <p:cNvSpPr/>
          <p:nvPr/>
        </p:nvSpPr>
        <p:spPr>
          <a:xfrm>
            <a:off x="7966583" y="3120868"/>
            <a:ext cx="2635055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Machine Learning: Scikit learn , Random Forest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FF9C4D-2837-D4DF-470E-38022F3B9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264" y="1518209"/>
            <a:ext cx="1587903" cy="117583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E67CA408-38AB-6D1F-0491-71C41808F456}"/>
              </a:ext>
            </a:extLst>
          </p:cNvPr>
          <p:cNvSpPr/>
          <p:nvPr/>
        </p:nvSpPr>
        <p:spPr>
          <a:xfrm>
            <a:off x="1401096" y="4222078"/>
            <a:ext cx="1720645" cy="145451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5E2188-57A5-5B61-1BAC-3F8A79B6D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539" y="4293317"/>
            <a:ext cx="1465002" cy="138327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270FDB-E8C4-CB94-4136-330F68D0623D}"/>
              </a:ext>
            </a:extLst>
          </p:cNvPr>
          <p:cNvSpPr/>
          <p:nvPr/>
        </p:nvSpPr>
        <p:spPr>
          <a:xfrm>
            <a:off x="1165115" y="5874447"/>
            <a:ext cx="2177849" cy="59015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Preprocessing :Pandas , </a:t>
            </a:r>
            <a:r>
              <a:rPr lang="en-IN" sz="1400" b="1" dirty="0" err="1">
                <a:solidFill>
                  <a:schemeClr val="tx1"/>
                </a:solidFill>
              </a:rPr>
              <a:t>Numpy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4A6635-727D-4DC9-E12F-4AB7C074E1FA}"/>
              </a:ext>
            </a:extLst>
          </p:cNvPr>
          <p:cNvSpPr/>
          <p:nvPr/>
        </p:nvSpPr>
        <p:spPr>
          <a:xfrm>
            <a:off x="4866965" y="4178708"/>
            <a:ext cx="1720645" cy="161249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BB86C4-3273-4626-8FA7-891DF841F3B8}"/>
              </a:ext>
            </a:extLst>
          </p:cNvPr>
          <p:cNvSpPr/>
          <p:nvPr/>
        </p:nvSpPr>
        <p:spPr>
          <a:xfrm>
            <a:off x="4616246" y="5892855"/>
            <a:ext cx="2379407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Quantum </a:t>
            </a:r>
            <a:r>
              <a:rPr lang="en-IN" sz="1600" b="1" dirty="0" err="1">
                <a:solidFill>
                  <a:schemeClr val="tx1"/>
                </a:solidFill>
              </a:rPr>
              <a:t>Computing:QISKIT</a:t>
            </a:r>
            <a:endParaRPr lang="en-IN" sz="1600" b="1" dirty="0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9686801-928A-D4F9-026F-3FABC048A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118" y="4349719"/>
            <a:ext cx="1504337" cy="1299261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49A5B7C-DE36-56C9-7C3D-BE6FED195624}"/>
              </a:ext>
            </a:extLst>
          </p:cNvPr>
          <p:cNvSpPr/>
          <p:nvPr/>
        </p:nvSpPr>
        <p:spPr>
          <a:xfrm>
            <a:off x="8563897" y="4178710"/>
            <a:ext cx="1720645" cy="161249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9DD228B-870E-2953-F060-E65B2C255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4451" y="4349719"/>
            <a:ext cx="1199535" cy="127047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5FB399C-C62F-058B-589C-290A1E3F1DBD}"/>
              </a:ext>
            </a:extLst>
          </p:cNvPr>
          <p:cNvSpPr/>
          <p:nvPr/>
        </p:nvSpPr>
        <p:spPr>
          <a:xfrm>
            <a:off x="7966583" y="5907915"/>
            <a:ext cx="2915269" cy="523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Visualization : Plotly , Matplotlib</a:t>
            </a:r>
          </a:p>
        </p:txBody>
      </p:sp>
    </p:spTree>
    <p:extLst>
      <p:ext uri="{BB962C8B-B14F-4D97-AF65-F5344CB8AC3E}">
        <p14:creationId xmlns:p14="http://schemas.microsoft.com/office/powerpoint/2010/main" val="297131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D43245-DFF8-160E-2CB9-318A95FA1BD3}"/>
              </a:ext>
            </a:extLst>
          </p:cNvPr>
          <p:cNvSpPr txBox="1"/>
          <p:nvPr/>
        </p:nvSpPr>
        <p:spPr>
          <a:xfrm>
            <a:off x="285136" y="452285"/>
            <a:ext cx="62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Quantum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63CA2-4B3C-9CC0-E547-EBD2B60D5A67}"/>
              </a:ext>
            </a:extLst>
          </p:cNvPr>
          <p:cNvSpPr txBox="1"/>
          <p:nvPr/>
        </p:nvSpPr>
        <p:spPr>
          <a:xfrm>
            <a:off x="717754" y="1581102"/>
            <a:ext cx="11316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Traditional fraud systems mainly detect known fraud patterns.</a:t>
            </a:r>
            <a:br>
              <a:rPr lang="en-IN" dirty="0"/>
            </a:br>
            <a:r>
              <a:rPr lang="en-IN" dirty="0"/>
              <a:t>Our quantum integration layer helps estimate abnormal transaction </a:t>
            </a:r>
            <a:r>
              <a:rPr lang="en-IN" dirty="0" err="1"/>
              <a:t>behavior</a:t>
            </a:r>
            <a:r>
              <a:rPr lang="en-IN" dirty="0"/>
              <a:t> using probabilistic analysis.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A36BC-2CE3-1CAA-2185-5036388F54E9}"/>
              </a:ext>
            </a:extLst>
          </p:cNvPr>
          <p:cNvSpPr txBox="1"/>
          <p:nvPr/>
        </p:nvSpPr>
        <p:spPr>
          <a:xfrm>
            <a:off x="717754" y="1037060"/>
            <a:ext cx="4817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Why We Used Quantum Integration</a:t>
            </a:r>
            <a:endParaRPr lang="en-IN" sz="2400" dirty="0">
              <a:solidFill>
                <a:schemeClr val="accent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185F82-709D-DF59-CE87-3D78B4FCCF6F}"/>
              </a:ext>
            </a:extLst>
          </p:cNvPr>
          <p:cNvSpPr txBox="1"/>
          <p:nvPr/>
        </p:nvSpPr>
        <p:spPr>
          <a:xfrm>
            <a:off x="1101213" y="2517058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Quantum Layer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11F71-FABE-A294-DCA9-68A2FAF00175}"/>
              </a:ext>
            </a:extLst>
          </p:cNvPr>
          <p:cNvSpPr txBox="1"/>
          <p:nvPr/>
        </p:nvSpPr>
        <p:spPr>
          <a:xfrm>
            <a:off x="4286865" y="274317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Transaction Data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          Risk Score Generation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       Quantum Circuit Encoding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       </a:t>
            </a:r>
            <a:r>
              <a:rPr lang="en-IN" dirty="0" err="1"/>
              <a:t>Qiskit</a:t>
            </a:r>
            <a:r>
              <a:rPr lang="en-IN" dirty="0"/>
              <a:t> Quantum Simulation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Quantum Measurement Outcomes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  Anomaly Probability Estimation</a:t>
            </a:r>
          </a:p>
          <a:p>
            <a:r>
              <a:rPr lang="en-IN" dirty="0"/>
              <a:t>                            ↓</a:t>
            </a:r>
          </a:p>
          <a:p>
            <a:r>
              <a:rPr lang="en-IN" dirty="0"/>
              <a:t>           Hybrid Fraud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9BA28-A148-4C55-0440-A36798FC2C71}"/>
              </a:ext>
            </a:extLst>
          </p:cNvPr>
          <p:cNvSpPr/>
          <p:nvPr/>
        </p:nvSpPr>
        <p:spPr>
          <a:xfrm>
            <a:off x="4955459" y="3308883"/>
            <a:ext cx="2261419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D3CE4-DF77-4933-776D-CC284244F33F}"/>
              </a:ext>
            </a:extLst>
          </p:cNvPr>
          <p:cNvSpPr/>
          <p:nvPr/>
        </p:nvSpPr>
        <p:spPr>
          <a:xfrm>
            <a:off x="5184058" y="2783583"/>
            <a:ext cx="1730478" cy="344154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D1F38-A0F6-1B1A-D054-E6D663D8D127}"/>
              </a:ext>
            </a:extLst>
          </p:cNvPr>
          <p:cNvSpPr/>
          <p:nvPr/>
        </p:nvSpPr>
        <p:spPr>
          <a:xfrm>
            <a:off x="4822723" y="3815230"/>
            <a:ext cx="2590800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D879F6-F777-B900-B1BE-A9C14358CFE8}"/>
              </a:ext>
            </a:extLst>
          </p:cNvPr>
          <p:cNvSpPr/>
          <p:nvPr/>
        </p:nvSpPr>
        <p:spPr>
          <a:xfrm>
            <a:off x="4822723" y="4462316"/>
            <a:ext cx="2708787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9990B-C358-7A27-5454-16292DCC559C}"/>
              </a:ext>
            </a:extLst>
          </p:cNvPr>
          <p:cNvSpPr/>
          <p:nvPr/>
        </p:nvSpPr>
        <p:spPr>
          <a:xfrm>
            <a:off x="4483510" y="4937325"/>
            <a:ext cx="3303638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21321-8DA4-9A9D-1B6E-F2259F455244}"/>
              </a:ext>
            </a:extLst>
          </p:cNvPr>
          <p:cNvSpPr/>
          <p:nvPr/>
        </p:nvSpPr>
        <p:spPr>
          <a:xfrm>
            <a:off x="4621161" y="5536190"/>
            <a:ext cx="2979175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EC6431-26D9-CBE1-C64F-A96EE19BAAAD}"/>
              </a:ext>
            </a:extLst>
          </p:cNvPr>
          <p:cNvSpPr/>
          <p:nvPr/>
        </p:nvSpPr>
        <p:spPr>
          <a:xfrm>
            <a:off x="4955459" y="6045612"/>
            <a:ext cx="2187677" cy="34415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60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02CCB2-E1A4-01E6-AF37-528D0BA727A9}"/>
              </a:ext>
            </a:extLst>
          </p:cNvPr>
          <p:cNvSpPr txBox="1"/>
          <p:nvPr/>
        </p:nvSpPr>
        <p:spPr>
          <a:xfrm>
            <a:off x="285134" y="329225"/>
            <a:ext cx="8632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How Our Model Works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72DF24-5CBF-8994-9709-65F2E5561D0F}"/>
              </a:ext>
            </a:extLst>
          </p:cNvPr>
          <p:cNvSpPr/>
          <p:nvPr/>
        </p:nvSpPr>
        <p:spPr>
          <a:xfrm>
            <a:off x="943896" y="1976293"/>
            <a:ext cx="2320413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 Preprocessing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BB51FE-2C80-0001-A985-8AD6235976AC}"/>
              </a:ext>
            </a:extLst>
          </p:cNvPr>
          <p:cNvSpPr/>
          <p:nvPr/>
        </p:nvSpPr>
        <p:spPr>
          <a:xfrm>
            <a:off x="943896" y="1096942"/>
            <a:ext cx="2320413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Transaction Data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2E4521-ACE4-FC07-D8FE-01CE51153C7B}"/>
              </a:ext>
            </a:extLst>
          </p:cNvPr>
          <p:cNvSpPr/>
          <p:nvPr/>
        </p:nvSpPr>
        <p:spPr>
          <a:xfrm>
            <a:off x="943897" y="5468670"/>
            <a:ext cx="2389234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Hybrid Decision Engine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F25F25-32C1-DE1A-2F77-45A13B35F7C9}"/>
              </a:ext>
            </a:extLst>
          </p:cNvPr>
          <p:cNvSpPr/>
          <p:nvPr/>
        </p:nvSpPr>
        <p:spPr>
          <a:xfrm>
            <a:off x="1012717" y="4502708"/>
            <a:ext cx="2320413" cy="75515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Quantum </a:t>
            </a:r>
            <a:r>
              <a:rPr lang="en-IN" dirty="0" err="1">
                <a:solidFill>
                  <a:schemeClr val="tx1"/>
                </a:solidFill>
              </a:rPr>
              <a:t>Anamoly</a:t>
            </a:r>
            <a:r>
              <a:rPr lang="en-IN" dirty="0">
                <a:solidFill>
                  <a:schemeClr val="tx1"/>
                </a:solidFill>
              </a:rPr>
              <a:t> Analysis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C2FC0E-01FA-D7A1-1AC8-77F3B4094FF1}"/>
              </a:ext>
            </a:extLst>
          </p:cNvPr>
          <p:cNvSpPr/>
          <p:nvPr/>
        </p:nvSpPr>
        <p:spPr>
          <a:xfrm>
            <a:off x="1012717" y="3734991"/>
            <a:ext cx="2320413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Behavioral</a:t>
            </a:r>
            <a:r>
              <a:rPr lang="en-IN" dirty="0">
                <a:solidFill>
                  <a:schemeClr val="tx1"/>
                </a:solidFill>
              </a:rPr>
              <a:t> Risk Scoring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B65856-6C80-7909-CAF4-8FDD13EBBB66}"/>
              </a:ext>
            </a:extLst>
          </p:cNvPr>
          <p:cNvSpPr/>
          <p:nvPr/>
        </p:nvSpPr>
        <p:spPr>
          <a:xfrm>
            <a:off x="1012717" y="2855642"/>
            <a:ext cx="2320413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Machine Learning Model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7C1301-BF7F-2DFB-0928-AADDC6AC0D86}"/>
              </a:ext>
            </a:extLst>
          </p:cNvPr>
          <p:cNvSpPr/>
          <p:nvPr/>
        </p:nvSpPr>
        <p:spPr>
          <a:xfrm>
            <a:off x="1012717" y="6236387"/>
            <a:ext cx="2320413" cy="58477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Final Fraud Prediction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AF3C15B-0860-27A4-4377-2CE30CE7497C}"/>
              </a:ext>
            </a:extLst>
          </p:cNvPr>
          <p:cNvSpPr/>
          <p:nvPr/>
        </p:nvSpPr>
        <p:spPr>
          <a:xfrm>
            <a:off x="3598601" y="1096943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0BDF8E1-5705-CF16-98F4-85BF14627246}"/>
              </a:ext>
            </a:extLst>
          </p:cNvPr>
          <p:cNvSpPr/>
          <p:nvPr/>
        </p:nvSpPr>
        <p:spPr>
          <a:xfrm>
            <a:off x="3637929" y="4547992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D459D34-A93A-73E3-17A4-2E060EF6FFCA}"/>
              </a:ext>
            </a:extLst>
          </p:cNvPr>
          <p:cNvSpPr/>
          <p:nvPr/>
        </p:nvSpPr>
        <p:spPr>
          <a:xfrm>
            <a:off x="3637929" y="3734991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58FAEAB-805C-9BFE-D08D-5B2315F92453}"/>
              </a:ext>
            </a:extLst>
          </p:cNvPr>
          <p:cNvSpPr/>
          <p:nvPr/>
        </p:nvSpPr>
        <p:spPr>
          <a:xfrm>
            <a:off x="3637929" y="2964199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EC11220-AD67-1EC6-E79C-26DF96EFD54F}"/>
              </a:ext>
            </a:extLst>
          </p:cNvPr>
          <p:cNvSpPr/>
          <p:nvPr/>
        </p:nvSpPr>
        <p:spPr>
          <a:xfrm>
            <a:off x="3598601" y="2060904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031119F-EFEB-FA8A-BF47-3DC901DA6596}"/>
              </a:ext>
            </a:extLst>
          </p:cNvPr>
          <p:cNvSpPr/>
          <p:nvPr/>
        </p:nvSpPr>
        <p:spPr>
          <a:xfrm>
            <a:off x="3637929" y="5488334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978075A-1A59-9530-CC02-FFBF22408631}"/>
              </a:ext>
            </a:extLst>
          </p:cNvPr>
          <p:cNvSpPr/>
          <p:nvPr/>
        </p:nvSpPr>
        <p:spPr>
          <a:xfrm>
            <a:off x="3637929" y="6290665"/>
            <a:ext cx="1661657" cy="47621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2DC16E3-08EC-AE39-F288-0CFDD466C0E5}"/>
              </a:ext>
            </a:extLst>
          </p:cNvPr>
          <p:cNvSpPr/>
          <p:nvPr/>
        </p:nvSpPr>
        <p:spPr>
          <a:xfrm>
            <a:off x="5594549" y="991123"/>
            <a:ext cx="5879694" cy="65236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system receives transaction details such as amount, transaction type, balances, device, and location for fraud analysis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1E9450-954C-2231-0923-FDA1228553D3}"/>
              </a:ext>
            </a:extLst>
          </p:cNvPr>
          <p:cNvSpPr/>
          <p:nvPr/>
        </p:nvSpPr>
        <p:spPr>
          <a:xfrm>
            <a:off x="5604385" y="1917655"/>
            <a:ext cx="5869858" cy="7258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dataset is cleaned and prepared by removing missing values and selecting important features for machine learning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211A69-00A8-961C-34CB-B9B5A87EB81A}"/>
              </a:ext>
            </a:extLst>
          </p:cNvPr>
          <p:cNvSpPr/>
          <p:nvPr/>
        </p:nvSpPr>
        <p:spPr>
          <a:xfrm>
            <a:off x="5604385" y="3567266"/>
            <a:ext cx="5869858" cy="701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model predicts whether the transaction is safe or fraudulent and generates a fraud probability score.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F02162-9622-96DC-76D5-453546241284}"/>
              </a:ext>
            </a:extLst>
          </p:cNvPr>
          <p:cNvSpPr/>
          <p:nvPr/>
        </p:nvSpPr>
        <p:spPr>
          <a:xfrm>
            <a:off x="5604385" y="4468713"/>
            <a:ext cx="5869858" cy="701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Qiskit</a:t>
            </a:r>
            <a:r>
              <a:rPr lang="en-US" sz="1600" dirty="0">
                <a:solidFill>
                  <a:schemeClr val="tx1"/>
                </a:solidFill>
              </a:rPr>
              <a:t> generates quantum randomness to introduce probabilistic uncertainty and slightly adjust risk analysis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04AA42-BF79-E5C7-4CB0-0359BB173197}"/>
              </a:ext>
            </a:extLst>
          </p:cNvPr>
          <p:cNvSpPr/>
          <p:nvPr/>
        </p:nvSpPr>
        <p:spPr>
          <a:xfrm>
            <a:off x="5594549" y="5338763"/>
            <a:ext cx="5869858" cy="6441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system generates a dynamic fraud risk percentage based on transaction behavior and model prediction.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97C516B-71B1-3D91-FBAE-B89BD79CF5DA}"/>
              </a:ext>
            </a:extLst>
          </p:cNvPr>
          <p:cNvSpPr/>
          <p:nvPr/>
        </p:nvSpPr>
        <p:spPr>
          <a:xfrm>
            <a:off x="5604385" y="6154994"/>
            <a:ext cx="5869858" cy="6394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final fraud alerts, analytics, graphs, and risk scores are displayed through an interactive dashboard.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8D53AD-D16A-A382-4CA2-B1326D373721}"/>
              </a:ext>
            </a:extLst>
          </p:cNvPr>
          <p:cNvSpPr/>
          <p:nvPr/>
        </p:nvSpPr>
        <p:spPr>
          <a:xfrm>
            <a:off x="5604385" y="2873074"/>
            <a:ext cx="5869858" cy="5794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 Random Forest model analyzes transaction patterns and learns to identify fraudulent behavior.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010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EEC5AC-FC21-8D7B-3F28-85CB54EA3E76}"/>
              </a:ext>
            </a:extLst>
          </p:cNvPr>
          <p:cNvSpPr txBox="1"/>
          <p:nvPr/>
        </p:nvSpPr>
        <p:spPr>
          <a:xfrm>
            <a:off x="462116" y="393291"/>
            <a:ext cx="5840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Machine Learning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B8C3B-3D3E-58F7-C628-E8DC1E703DC2}"/>
              </a:ext>
            </a:extLst>
          </p:cNvPr>
          <p:cNvSpPr txBox="1"/>
          <p:nvPr/>
        </p:nvSpPr>
        <p:spPr>
          <a:xfrm>
            <a:off x="550605" y="1213008"/>
            <a:ext cx="547656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Random Forest Classifier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Why We Used Random Forest</a:t>
            </a:r>
          </a:p>
          <a:p>
            <a:r>
              <a:rPr lang="en-IN" dirty="0"/>
              <a:t> High accuracy for classification problems</a:t>
            </a:r>
            <a:br>
              <a:rPr lang="en-IN" dirty="0"/>
            </a:br>
            <a:r>
              <a:rPr lang="en-IN" dirty="0"/>
              <a:t> Handles large datasets efficiently</a:t>
            </a:r>
            <a:br>
              <a:rPr lang="en-IN" dirty="0"/>
            </a:br>
            <a:r>
              <a:rPr lang="en-IN" dirty="0"/>
              <a:t> Reduces overfitting</a:t>
            </a:r>
            <a:br>
              <a:rPr lang="en-IN" dirty="0"/>
            </a:br>
            <a:r>
              <a:rPr lang="en-IN" dirty="0"/>
              <a:t> Good at detecting fraud patterns and anomalies</a:t>
            </a:r>
          </a:p>
          <a:p>
            <a:pPr>
              <a:buNone/>
            </a:pPr>
            <a:endParaRPr lang="en-IN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How the Model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model is trained using historical transaction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learns the difference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normal transactions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fraudulent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Based on transaction </a:t>
            </a:r>
            <a:r>
              <a:rPr lang="en-IN" dirty="0" err="1"/>
              <a:t>behavior</a:t>
            </a:r>
            <a:r>
              <a:rPr lang="en-IN" dirty="0"/>
              <a:t>, it predicts fraud probability.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047B4-3BC5-4F89-7F21-37698871A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523" y="504421"/>
            <a:ext cx="5958348" cy="587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7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2D92C-C0D3-04C1-1F7D-80DC3B27B6E5}"/>
              </a:ext>
            </a:extLst>
          </p:cNvPr>
          <p:cNvSpPr txBox="1"/>
          <p:nvPr/>
        </p:nvSpPr>
        <p:spPr>
          <a:xfrm>
            <a:off x="924449" y="572380"/>
            <a:ext cx="5651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Quantum Problem Addressed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D58072-EF83-6722-6221-45AE271BA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8AE0E-DB7B-AAD8-4D3D-0555F91474FB}"/>
              </a:ext>
            </a:extLst>
          </p:cNvPr>
          <p:cNvSpPr txBox="1"/>
          <p:nvPr/>
        </p:nvSpPr>
        <p:spPr>
          <a:xfrm>
            <a:off x="924449" y="1034497"/>
            <a:ext cx="91239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Classical ML models rely only on </a:t>
            </a:r>
            <a:r>
              <a:rPr lang="en-US" altLang="en-US" b="1" dirty="0">
                <a:latin typeface="Arial" panose="020B0604020202020204" pitchFamily="34" charset="0"/>
              </a:rPr>
              <a:t>deterministic pattern matching</a:t>
            </a:r>
            <a:r>
              <a:rPr lang="en-US" altLang="en-US" dirty="0">
                <a:latin typeface="Arial" panose="020B0604020202020204" pitchFamily="34" charset="0"/>
              </a:rPr>
              <a:t> from historical data.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They often fail to represent </a:t>
            </a:r>
            <a:r>
              <a:rPr lang="en-US" altLang="en-US" b="1" dirty="0">
                <a:latin typeface="Arial" panose="020B0604020202020204" pitchFamily="34" charset="0"/>
              </a:rPr>
              <a:t>uncertainty in complex or borderline transactions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Fraud detection involves a </a:t>
            </a:r>
            <a:r>
              <a:rPr lang="en-US" altLang="en-US" b="1" dirty="0">
                <a:latin typeface="Arial" panose="020B0604020202020204" pitchFamily="34" charset="0"/>
              </a:rPr>
              <a:t>huge probability space</a:t>
            </a:r>
            <a:r>
              <a:rPr lang="en-US" altLang="en-US" dirty="0">
                <a:latin typeface="Arial" panose="020B0604020202020204" pitchFamily="34" charset="0"/>
              </a:rPr>
              <a:t>, which is difficult for classical systems to fully explore.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Our quantum-inspired layer addresses this by modeling </a:t>
            </a:r>
            <a:r>
              <a:rPr lang="en-US" altLang="en-US" b="1" dirty="0">
                <a:latin typeface="Arial" panose="020B0604020202020204" pitchFamily="34" charset="0"/>
              </a:rPr>
              <a:t>behavioral uncertainty and anomaly probability</a:t>
            </a:r>
            <a:r>
              <a:rPr lang="en-US" altLang="en-US" dirty="0">
                <a:latin typeface="Arial" panose="020B0604020202020204" pitchFamily="34" charset="0"/>
              </a:rPr>
              <a:t> in a probabilistic way.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helps identify cases where transactions are </a:t>
            </a:r>
            <a:r>
              <a:rPr lang="en-US" altLang="en-US" b="1" dirty="0">
                <a:latin typeface="Arial" panose="020B0604020202020204" pitchFamily="34" charset="0"/>
              </a:rPr>
              <a:t>not clearly fraud or safe</a:t>
            </a:r>
            <a:r>
              <a:rPr lang="en-US" altLang="en-US" dirty="0">
                <a:latin typeface="Arial" panose="020B0604020202020204" pitchFamily="34" charset="0"/>
              </a:rPr>
              <a:t>, improving decision refinement.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50685-F924-70E4-E881-DCA6E0DB187D}"/>
              </a:ext>
            </a:extLst>
          </p:cNvPr>
          <p:cNvSpPr txBox="1"/>
          <p:nvPr/>
        </p:nvSpPr>
        <p:spPr>
          <a:xfrm>
            <a:off x="1130710" y="3942985"/>
            <a:ext cx="389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What was built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60196-148D-DDD7-EB49-8F1D1C5BFF91}"/>
              </a:ext>
            </a:extLst>
          </p:cNvPr>
          <p:cNvSpPr txBox="1"/>
          <p:nvPr/>
        </p:nvSpPr>
        <p:spPr>
          <a:xfrm>
            <a:off x="1130710" y="4748980"/>
            <a:ext cx="6135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Risk scoring system for transactions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Quantum-inspired anomaly detection using </a:t>
            </a:r>
            <a:r>
              <a:rPr lang="en-US" altLang="en-US" dirty="0" err="1">
                <a:latin typeface="Arial" panose="020B0604020202020204" pitchFamily="34" charset="0"/>
              </a:rPr>
              <a:t>Qiskit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Hybrid decision engine for final fraud prediction </a:t>
            </a:r>
          </a:p>
        </p:txBody>
      </p:sp>
    </p:spTree>
    <p:extLst>
      <p:ext uri="{BB962C8B-B14F-4D97-AF65-F5344CB8AC3E}">
        <p14:creationId xmlns:p14="http://schemas.microsoft.com/office/powerpoint/2010/main" val="355391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843A8-9164-C882-D968-E137AEACADFB}"/>
              </a:ext>
            </a:extLst>
          </p:cNvPr>
          <p:cNvSpPr txBox="1"/>
          <p:nvPr/>
        </p:nvSpPr>
        <p:spPr>
          <a:xfrm>
            <a:off x="816077" y="501445"/>
            <a:ext cx="4591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Unique Value Proposition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FE3D7-579D-B43A-F88B-D4149559ACF1}"/>
              </a:ext>
            </a:extLst>
          </p:cNvPr>
          <p:cNvSpPr txBox="1"/>
          <p:nvPr/>
        </p:nvSpPr>
        <p:spPr>
          <a:xfrm>
            <a:off x="1285973" y="1086220"/>
            <a:ext cx="10453743" cy="28623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We combine </a:t>
            </a:r>
            <a:r>
              <a:rPr lang="en-US" altLang="en-US" b="1" dirty="0">
                <a:latin typeface="Arial" panose="020B0604020202020204" pitchFamily="34" charset="0"/>
              </a:rPr>
              <a:t>Classical Machine Learning (Random Forest)</a:t>
            </a:r>
            <a:r>
              <a:rPr lang="en-US" altLang="en-US" dirty="0">
                <a:latin typeface="Arial" panose="020B0604020202020204" pitchFamily="34" charset="0"/>
              </a:rPr>
              <a:t> with a </a:t>
            </a:r>
            <a:r>
              <a:rPr lang="en-US" altLang="en-US" b="1" dirty="0">
                <a:latin typeface="Arial" panose="020B0604020202020204" pitchFamily="34" charset="0"/>
              </a:rPr>
              <a:t>Quantum-Inspired anomaly detection layer</a:t>
            </a:r>
            <a:r>
              <a:rPr lang="en-US" altLang="en-US" dirty="0">
                <a:latin typeface="Arial" panose="020B0604020202020204" pitchFamily="34" charset="0"/>
              </a:rPr>
              <a:t> for fraud analysis.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Instead of relying only on past patterns, our system also evaluates </a:t>
            </a:r>
            <a:r>
              <a:rPr lang="en-US" altLang="en-US" b="1" dirty="0">
                <a:latin typeface="Arial" panose="020B0604020202020204" pitchFamily="34" charset="0"/>
              </a:rPr>
              <a:t>behavioral uncertainty in transactions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dual-layer intelligence system</a:t>
            </a:r>
            <a:r>
              <a:rPr lang="en-US" altLang="en-US" dirty="0">
                <a:latin typeface="Arial" panose="020B0604020202020204" pitchFamily="34" charset="0"/>
              </a:rPr>
              <a:t> ensures both pattern-based and probability-based fraud detection.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quantum layer helps detect cases where ML alone may be </a:t>
            </a:r>
            <a:r>
              <a:rPr lang="en-US" altLang="en-US" b="1" dirty="0">
                <a:latin typeface="Arial" panose="020B0604020202020204" pitchFamily="34" charset="0"/>
              </a:rPr>
              <a:t>overconfident or uncertain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hybrid decision engine</a:t>
            </a:r>
            <a:r>
              <a:rPr lang="en-US" altLang="en-US" dirty="0">
                <a:latin typeface="Arial" panose="020B0604020202020204" pitchFamily="34" charset="0"/>
              </a:rPr>
              <a:t> fuses both outputs to improve accuracy and reduce false positives.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makes the system more </a:t>
            </a:r>
            <a:r>
              <a:rPr lang="en-US" altLang="en-US" b="1" dirty="0">
                <a:latin typeface="Arial" panose="020B0604020202020204" pitchFamily="34" charset="0"/>
              </a:rPr>
              <a:t>adaptive, robust, and future-ready for complex fraud patterns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68089-B4DE-A73D-08A9-21EFBC0E841C}"/>
              </a:ext>
            </a:extLst>
          </p:cNvPr>
          <p:cNvSpPr txBox="1"/>
          <p:nvPr/>
        </p:nvSpPr>
        <p:spPr>
          <a:xfrm>
            <a:off x="983225" y="4010097"/>
            <a:ext cx="3578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Real-World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31A81-F04C-7DB5-E69C-4F290A757F19}"/>
              </a:ext>
            </a:extLst>
          </p:cNvPr>
          <p:cNvSpPr txBox="1"/>
          <p:nvPr/>
        </p:nvSpPr>
        <p:spPr>
          <a:xfrm>
            <a:off x="1345992" y="4533317"/>
            <a:ext cx="10333703" cy="2031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banks and financial systems detect fraud in </a:t>
            </a:r>
            <a:r>
              <a:rPr lang="en-US" b="1" dirty="0"/>
              <a:t>real-time transactions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b="1" dirty="0"/>
              <a:t>false positives</a:t>
            </a:r>
            <a:r>
              <a:rPr lang="en-US" dirty="0"/>
              <a:t>, ensuring genuine users are not blocked unnecessarily.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security for </a:t>
            </a:r>
            <a:r>
              <a:rPr lang="en-US" b="1" dirty="0"/>
              <a:t>online payments, UPI, net banking, and digital wallets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early detection of </a:t>
            </a:r>
            <a:r>
              <a:rPr lang="en-US" b="1" dirty="0"/>
              <a:t>unusual or emerging fraud patterns</a:t>
            </a:r>
            <a:r>
              <a:rPr lang="en-US" dirty="0"/>
              <a:t> that traditional systems may miss.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integrated into </a:t>
            </a:r>
            <a:r>
              <a:rPr lang="en-US" b="1" dirty="0"/>
              <a:t>fintech apps and banking APIs</a:t>
            </a:r>
            <a:r>
              <a:rPr lang="en-US" dirty="0"/>
              <a:t> to strengthen cybersecurity.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a safer digital economy by increasing </a:t>
            </a:r>
            <a:r>
              <a:rPr lang="en-US" b="1" dirty="0"/>
              <a:t>user trust and transaction reliability</a:t>
            </a:r>
            <a:r>
              <a:rPr lang="en-US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539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40DFB2-9E48-B0E4-FC85-CA608BF6C49B}"/>
              </a:ext>
            </a:extLst>
          </p:cNvPr>
          <p:cNvSpPr txBox="1"/>
          <p:nvPr/>
        </p:nvSpPr>
        <p:spPr>
          <a:xfrm>
            <a:off x="1052052" y="462116"/>
            <a:ext cx="3873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C8313-C916-F785-B4BA-600E69DDDE9F}"/>
              </a:ext>
            </a:extLst>
          </p:cNvPr>
          <p:cNvSpPr txBox="1"/>
          <p:nvPr/>
        </p:nvSpPr>
        <p:spPr>
          <a:xfrm>
            <a:off x="1224926" y="1502823"/>
            <a:ext cx="10052674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We developed a </a:t>
            </a:r>
            <a:r>
              <a:rPr lang="en-US" altLang="en-US" b="1" dirty="0">
                <a:latin typeface="Arial" panose="020B0604020202020204" pitchFamily="34" charset="0"/>
              </a:rPr>
              <a:t>hybrid fraud detection system</a:t>
            </a:r>
            <a:r>
              <a:rPr lang="en-US" altLang="en-US" dirty="0">
                <a:latin typeface="Arial" panose="020B0604020202020204" pitchFamily="34" charset="0"/>
              </a:rPr>
              <a:t> combining Random Forest machine learning with a quantum-inspired anomaly layer.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ML model detects known fraud patterns, while the quantum layer evaluates uncertainty and unusual transaction behavior.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By combining both approaches, the system aims to improve fraud detection accuracy and reduce false positives.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Our solution is scalable, future-ready, and applicable to modern digital payment ecosystems.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project demonstrates how classical AI and quantum-inspired computing can work together for smarter cybersecurity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64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00202D-23CD-AD4D-3097-C1535102BED6}"/>
              </a:ext>
            </a:extLst>
          </p:cNvPr>
          <p:cNvSpPr txBox="1"/>
          <p:nvPr/>
        </p:nvSpPr>
        <p:spPr>
          <a:xfrm>
            <a:off x="3185652" y="2546555"/>
            <a:ext cx="65581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46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907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Bahnschrift SemiBold SemiConden</vt:lpstr>
      <vt:lpstr>Baskerville Old Face</vt:lpstr>
      <vt:lpstr>Bodoni MT</vt:lpstr>
      <vt:lpstr>Calibri</vt:lpstr>
      <vt:lpstr>Calibri Light</vt:lpstr>
      <vt:lpstr>Californian FB</vt:lpstr>
      <vt:lpstr>Gadugi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LATHIKA</dc:creator>
  <cp:lastModifiedBy>E LATHIKA</cp:lastModifiedBy>
  <cp:revision>8</cp:revision>
  <dcterms:created xsi:type="dcterms:W3CDTF">2026-05-22T16:42:00Z</dcterms:created>
  <dcterms:modified xsi:type="dcterms:W3CDTF">2026-05-23T12:13:33Z</dcterms:modified>
</cp:coreProperties>
</file>